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8"/>
          </a:solidFill>
          <a:ln w="0">
            <a:solidFill>
              <a:srgbClr val="10182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609600"/>
            <a:ext cx="581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</a:t>
            </a:r>
            <a:endParaRPr sz="1800" b="1">
              <a:solidFill>
                <a:srgbClr val="7DD3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1257300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让真实软件工程成为</a:t>
            </a:r>
            <a:endParaRPr sz="29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可执行、可验证、可继承的系统</a:t>
            </a:r>
            <a:endParaRPr sz="29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781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 + 测试即规约 + 白+黑协作 + 自动运维 + 长期记忆</a:t>
            </a:r>
            <a:endParaRPr sz="1350" b="0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3600450"/>
            <a:ext cx="7105650" cy="1200150"/>
          </a:xfrm>
          <a:prstGeom prst="rect">
            <a:avLst/>
          </a:prstGeom>
          <a:solidFill>
            <a:srgbClr val="172554"/>
          </a:solidFill>
          <a:ln w="9525">
            <a:solidFill>
              <a:srgbClr val="31588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38290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核心定位</a:t>
            </a:r>
            <a:endParaRPr sz="1050" b="1">
              <a:solidFill>
                <a:srgbClr val="7DD3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4114800"/>
            <a:ext cx="6191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不是展示 AI 写了一个项目，而是展示如何把需求、架构、测试、部署、问题和经验固化为一条 AI 可执行的软件工程流水线。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0" y="838200"/>
            <a:ext cx="2381250" cy="1104900"/>
          </a:xfrm>
          <a:prstGeom prst="rect">
            <a:avLst/>
          </a:prstGeom>
          <a:solidFill>
            <a:srgbClr val="172554"/>
          </a:solidFill>
          <a:ln w="9525">
            <a:solidFill>
              <a:srgbClr val="31588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43950" y="962025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2.7万行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43950" y="13335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核心应用代码</a:t>
            </a:r>
            <a:endParaRPr sz="975" b="1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43950" y="16192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7C7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B7C7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IAM API、pep-proxy、bundle-server 等</a:t>
            </a:r>
            <a:endParaRPr sz="750" b="0">
              <a:solidFill>
                <a:srgbClr val="B7C7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0" y="2247900"/>
            <a:ext cx="2381250" cy="1104900"/>
          </a:xfrm>
          <a:prstGeom prst="rect">
            <a:avLst/>
          </a:prstGeom>
          <a:solidFill>
            <a:srgbClr val="172554"/>
          </a:solidFill>
          <a:ln w="9525">
            <a:solidFill>
              <a:srgbClr val="31588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43950" y="2371725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7.1万行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43950" y="27432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活跃工程资产</a:t>
            </a:r>
            <a:endParaRPr sz="975" b="1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43950" y="30289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7C7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B7C7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apps / build / deploy / tests / tools</a:t>
            </a:r>
            <a:endParaRPr sz="750" b="0">
              <a:solidFill>
                <a:srgbClr val="B7C7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0" y="3657600"/>
            <a:ext cx="2381250" cy="1104900"/>
          </a:xfrm>
          <a:prstGeom prst="rect">
            <a:avLst/>
          </a:prstGeom>
          <a:solidFill>
            <a:srgbClr val="172554"/>
          </a:solidFill>
          <a:ln w="9525">
            <a:solidFill>
              <a:srgbClr val="3158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43950" y="3781425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50%-60%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43950" y="41529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人力节省</a:t>
            </a:r>
            <a:endParaRPr sz="975" b="1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43950" y="44386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7C7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B7C7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60-95 人日，AI 辅助后 23-39 人日</a:t>
            </a:r>
            <a:endParaRPr sz="750" b="0">
              <a:solidFill>
                <a:srgbClr val="B7C7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6076950"/>
            <a:ext cx="952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7C7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7C7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AIDP IAM / Gateway 作为复杂工程样板，验证方法在需求、代码、测试、部署、修复和运行反馈中的闭环能力。</a:t>
            </a:r>
            <a:endParaRPr sz="1050" b="0">
              <a:solidFill>
                <a:srgbClr val="B7C7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总览结论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这套实践的核心不是“生成代码”，而是“把工程过程产品化”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把人脑中的隐性工程知识变成 AI 可读取、可验证、可复用的工程资产。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076450"/>
            <a:ext cx="10001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2860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095500" y="2247900"/>
            <a:ext cx="819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5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要稳定改复杂工程，先要有结构化需求、测试规约、上下文资产、自动化验证和记忆沉淀，而不是只靠一次性 Prompt。</a:t>
            </a:r>
            <a:endParaRPr sz="15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3371850"/>
            <a:ext cx="2190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49567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38671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 Spec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415290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澄清边界、接口、权限语义、异常行为</a:t>
            </a:r>
            <a:endParaRPr sz="7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371850" y="3371850"/>
            <a:ext cx="2190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543300" y="349567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18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543300" y="38671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实现前规约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43300" y="415290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正向、负向、依赖故障、回归用例</a:t>
            </a:r>
            <a:endParaRPr sz="7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48350" y="3371850"/>
            <a:ext cx="2190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19800" y="349567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</a:t>
            </a:r>
            <a:endParaRPr sz="180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19800" y="38671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长短期记忆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19800" y="415290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架构、被否定方案、调试陷阱、Skills</a:t>
            </a:r>
            <a:endParaRPr sz="7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24850" y="3371850"/>
            <a:ext cx="2190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496300" y="3495675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</a:t>
            </a:r>
            <a:endParaRPr sz="18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496300" y="38671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白+黑闭环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96300" y="415290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白天 issue、夜间修复、次日验收</a:t>
            </a:r>
            <a:endParaRPr sz="7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152650" y="5543550"/>
            <a:ext cx="790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8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评审看点：方法可解释、过程可复盘、结果可度量、经验可迁移。</a:t>
            </a:r>
            <a:endParaRPr sz="180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问题定义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改复杂代码不准，通常不是模型不会写，而是工程上下文没有被设计好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IAM / Gateway 暴露了四类典型损耗。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114550"/>
            <a:ext cx="2428875" cy="1428750"/>
          </a:xfrm>
          <a:prstGeom prst="rect">
            <a:avLst/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114550"/>
            <a:ext cx="47625" cy="14287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228850"/>
            <a:ext cx="21621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隐含约束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514600"/>
            <a:ext cx="2162175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身份、路径、资源、角色、租户、异常行为没有提前显式化，AI 容易按局部代码猜语义。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86150" y="2114550"/>
            <a:ext cx="2428875" cy="1428750"/>
          </a:xfrm>
          <a:prstGeom prst="rect">
            <a:avLst/>
          </a:prstGeom>
          <a:solidFill>
            <a:srgbClr val="ECFEFF"/>
          </a:solidFill>
          <a:ln w="11430">
            <a:solidFill>
              <a:srgbClr val="0891B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114550"/>
            <a:ext cx="47625" cy="1428750"/>
          </a:xfrm>
          <a:prstGeom prst="rect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38550" y="2228850"/>
            <a:ext cx="21621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跨组件契约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38550" y="2514600"/>
            <a:ext cx="2162175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Gateway、pep-proxy、OPA、DB、业务后端、resource-sync 任一契约漂移都可能形成绕权。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48400" y="2114550"/>
            <a:ext cx="2428875" cy="1428750"/>
          </a:xfrm>
          <a:prstGeom prst="rect">
            <a:avLst/>
          </a:prstGeom>
          <a:solidFill>
            <a:srgbClr val="FFF7ED"/>
          </a:solidFill>
          <a:ln w="11430">
            <a:solidFill>
              <a:srgbClr val="EA580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48400" y="2114550"/>
            <a:ext cx="47625" cy="1428750"/>
          </a:xfrm>
          <a:prstGeom prst="rect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00800" y="2228850"/>
            <a:ext cx="21621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测试盲区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00800" y="2514600"/>
            <a:ext cx="2162175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权限系统不能只测成功路径；跨租户、无 ACL、依赖故障等负向路径最容易遗漏。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10650" y="2114550"/>
            <a:ext cx="2428875" cy="1428750"/>
          </a:xfrm>
          <a:prstGeom prst="rect">
            <a:avLst/>
          </a:prstGeom>
          <a:solidFill>
            <a:srgbClr val="F0FDF4"/>
          </a:solidFill>
          <a:ln w="11430">
            <a:solidFill>
              <a:srgbClr val="16A34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010650" y="2114550"/>
            <a:ext cx="47625" cy="142875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63050" y="2228850"/>
            <a:ext cx="21621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经验遗忘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63050" y="2514600"/>
            <a:ext cx="2162175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跨会话会忘记被否定方案、历史坑、测试命令和修改边界，导致重复返工。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695450" y="44577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95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因此，工程要先变得“AI 友好”：把规则、证据、边界和反馈变成可加载资产。</a:t>
            </a:r>
            <a:endParaRPr sz="195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381250" y="510540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这也是为什么本作品主推软件工程方法，而不是单个工具或单次生成效果。</a:t>
            </a:r>
            <a:endParaRPr sz="13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方法定义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 = 让工程资产可被 AI 读取、执行、验证和继承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不是多写提示词，而是重构工程输入和反馈方式。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076450"/>
            <a:ext cx="2952750" cy="1066800"/>
          </a:xfrm>
          <a:prstGeom prst="rect">
            <a:avLst/>
          </a:prstGeom>
          <a:solidFill>
            <a:srgbClr val="F2F4F7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076450"/>
            <a:ext cx="47625" cy="10668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190750"/>
            <a:ext cx="2686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结构化需求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476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功能点、边界、权限语义、异常行为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43400" y="2076450"/>
            <a:ext cx="2952750" cy="1066800"/>
          </a:xfrm>
          <a:prstGeom prst="rect">
            <a:avLst/>
          </a:prstGeom>
          <a:solidFill>
            <a:srgbClr val="FFFFFF"/>
          </a:solidFill>
          <a:ln w="11430">
            <a:solidFill>
              <a:srgbClr val="EA580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343400" y="2076450"/>
            <a:ext cx="47625" cy="1066800"/>
          </a:xfrm>
          <a:prstGeom prst="rect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95800" y="2190750"/>
            <a:ext cx="2686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可执行测试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95800" y="2476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单测、集成、黑盒、依赖故障、回归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67650" y="2076450"/>
            <a:ext cx="2952750" cy="1066800"/>
          </a:xfrm>
          <a:prstGeom prst="rect">
            <a:avLst/>
          </a:prstGeom>
          <a:solidFill>
            <a:srgbClr val="F2F4F7"/>
          </a:solidFill>
          <a:ln w="11430">
            <a:solidFill>
              <a:srgbClr val="0891B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67650" y="2076450"/>
            <a:ext cx="47625" cy="1066800"/>
          </a:xfrm>
          <a:prstGeom prst="rect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020050" y="2190750"/>
            <a:ext cx="2686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上下文资产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20050" y="2476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架构、数据流、代码边界、命令、禁区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3505200"/>
            <a:ext cx="2952750" cy="1066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C262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3505200"/>
            <a:ext cx="47625" cy="10668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71550" y="3619500"/>
            <a:ext cx="2686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问题日志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71550" y="390525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issue、复现步骤、实际/预期、优先级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343400" y="3505200"/>
            <a:ext cx="2952750" cy="1066800"/>
          </a:xfrm>
          <a:prstGeom prst="rect">
            <a:avLst/>
          </a:prstGeom>
          <a:solidFill>
            <a:srgbClr val="F2F4F7"/>
          </a:solidFill>
          <a:ln w="11430">
            <a:solidFill>
              <a:srgbClr val="16A34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343400" y="3505200"/>
            <a:ext cx="47625" cy="10668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495800" y="3619500"/>
            <a:ext cx="2686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记忆体系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495800" y="390525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被否定方案、调试陷阱、Prompt、Skills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67650" y="3505200"/>
            <a:ext cx="2952750" cy="1066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67650" y="3505200"/>
            <a:ext cx="47625" cy="10668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020050" y="3619500"/>
            <a:ext cx="2686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自动化验证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20050" y="390525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setup、test、cleanup、reinstall、报告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00200" y="5276850"/>
            <a:ext cx="8991600" cy="495300"/>
          </a:xfrm>
          <a:prstGeom prst="rect">
            <a:avLst/>
          </a:prstGeom>
          <a:solidFill>
            <a:srgbClr val="101828"/>
          </a:solidFill>
          <a:ln w="9525">
            <a:solidFill>
              <a:srgbClr val="10182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809750" y="54102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核心变化：AI 不再从零猜项目，而是在工程边界内按规约生成、按测试收敛、按记忆继承。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工程样板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AIDP IAM / Gateway 提供了足够复杂的验证场景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身份、路径、资源、网关、策略、数据库和资源同步在一条链路中协同。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209800"/>
            <a:ext cx="1714500" cy="12954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38125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调用方</a:t>
            </a:r>
            <a:endParaRPr sz="120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762250"/>
            <a:ext cx="1409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JWT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 API Key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66975" y="2828925"/>
            <a:ext cx="28575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657475" y="27336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943225" y="2209800"/>
            <a:ext cx="17145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95625" y="238125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Envoy Gateway</a:t>
            </a:r>
            <a:endParaRPr sz="120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95625" y="2762250"/>
            <a:ext cx="1409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HTTPRoute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SecurityPolicy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ext_authz / ext_proc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05350" y="2828925"/>
            <a:ext cx="28575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895850" y="27336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81600" y="2209800"/>
            <a:ext cx="1714500" cy="1295400"/>
          </a:xfrm>
          <a:prstGeom prst="rect">
            <a:avLst/>
          </a:prstGeom>
          <a:solidFill>
            <a:srgbClr val="ECFE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34000" y="238125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pep-proxy</a:t>
            </a:r>
            <a:endParaRPr sz="120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34000" y="2762250"/>
            <a:ext cx="1409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身份解析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OPA 调用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resource_acl 查询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943725" y="2828925"/>
            <a:ext cx="28575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134225" y="27336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19975" y="2209800"/>
            <a:ext cx="1714500" cy="129540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572375" y="238125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业务后端</a:t>
            </a:r>
            <a:endParaRPr sz="120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572375" y="2762250"/>
            <a:ext cx="1409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URL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资源创建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列表查询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810750" y="1924050"/>
            <a:ext cx="1619250" cy="78105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982200" y="21336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OPA</a:t>
            </a:r>
            <a:endParaRPr sz="12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82200" y="2419350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路径级鉴权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810750" y="3086100"/>
            <a:ext cx="1619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982200" y="32766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</a:t>
            </a:r>
            <a:endParaRPr sz="12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982200" y="356235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Key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path_rules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resource_acl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381250" y="4381500"/>
            <a:ext cx="666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647950" y="4591050"/>
            <a:ext cx="613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35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resource-sync：资源创建写 Owner ACL，删除清理 ACL，列表查询注入 X-Allowed-Ids</a:t>
            </a:r>
            <a:endParaRPr sz="135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238250" y="5619750"/>
            <a:ext cx="971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验证重点：API Key 不做旁路授权；OPA 只做路径级；resource_acl 做实例级；依赖故障 fail-close。</a:t>
            </a:r>
            <a:endParaRPr sz="150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流程图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原生开发流程：把 AI 嵌入需求、架构、代码、测试、部署、验收六个节点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 detail/引用材料/ai-dev-workflow.md，将流程固化为可执行、可验收、可复用的工程管道。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1943100"/>
            <a:ext cx="1857375" cy="321945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152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启动入口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590800"/>
            <a:ext cx="1381125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新功能开发</a:t>
            </a:r>
            <a:endParaRPr sz="10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存量系统重构</a:t>
            </a:r>
            <a:endParaRPr sz="10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新成员接手</a:t>
            </a:r>
            <a:endParaRPr sz="10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测试验收切换</a:t>
            </a:r>
            <a:endParaRPr sz="10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050"/>
          </a:p>
          <a:p>
            <a:pPr algn="ctr">
              <a:def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不适用：单文件修补、配置微调、纯文档更新</a:t>
            </a:r>
            <a:endParaRPr sz="10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46291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按需加载上下文，不一次性塞满窗口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38450" y="2076450"/>
            <a:ext cx="142875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838450" y="2076450"/>
            <a:ext cx="14287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22288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0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阶段判断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71800" y="25527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判断当前是需求、架构、代码、测试、部署还是验收</a:t>
            </a:r>
            <a:endParaRPr sz="7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62500" y="2076450"/>
            <a:ext cx="1428750" cy="914400"/>
          </a:xfrm>
          <a:prstGeom prst="rect">
            <a:avLst/>
          </a:prstGeom>
          <a:solidFill>
            <a:srgbClr val="ECFEFF"/>
          </a:solidFill>
          <a:ln w="11430">
            <a:solidFill>
              <a:srgbClr val="0891B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762500" y="2076450"/>
            <a:ext cx="1428750" cy="57150"/>
          </a:xfrm>
          <a:prstGeom prst="rect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876800" y="22288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</a:t>
            </a:r>
            <a:endParaRPr sz="11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需求结构化</a:t>
            </a:r>
            <a:endParaRPr sz="11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95850" y="25527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追问隔离、鉴权、数据、依赖、性能，形成验收标准</a:t>
            </a:r>
            <a:endParaRPr sz="7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86550" y="2076450"/>
            <a:ext cx="142875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686550" y="2076450"/>
            <a:ext cx="14287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00850" y="22288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2</a:t>
            </a:r>
            <a:endParaRPr sz="11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架构设计</a:t>
            </a:r>
            <a:endParaRPr sz="11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19900" y="25527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输出架构图、数据流、Schema，锁定接口契约</a:t>
            </a:r>
            <a:endParaRPr sz="7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10600" y="2076450"/>
            <a:ext cx="1428750" cy="914400"/>
          </a:xfrm>
          <a:prstGeom prst="rect">
            <a:avLst/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610600" y="2076450"/>
            <a:ext cx="14287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724900" y="22288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3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代码生成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43950" y="25527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按依赖顺序分模块实现，每个模块立即验证</a:t>
            </a:r>
            <a:endParaRPr sz="7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305300" y="2533650"/>
            <a:ext cx="4191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2533650"/>
            <a:ext cx="4191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53400" y="2533650"/>
            <a:ext cx="4191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334500" y="3048000"/>
            <a:ext cx="19050" cy="5143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610600" y="3638550"/>
            <a:ext cx="1428750" cy="914400"/>
          </a:xfrm>
          <a:prstGeom prst="rect">
            <a:avLst/>
          </a:prstGeom>
          <a:solidFill>
            <a:srgbClr val="FFF7ED"/>
          </a:solidFill>
          <a:ln w="11430">
            <a:solidFill>
              <a:srgbClr val="EA580C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610600" y="3638550"/>
            <a:ext cx="1428750" cy="57150"/>
          </a:xfrm>
          <a:prstGeom prst="rect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724900" y="37909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4</a:t>
            </a:r>
            <a:endParaRPr sz="1125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测试生成</a:t>
            </a:r>
            <a:endParaRPr sz="1125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43950" y="41148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正常、异常、依赖故障；测试即规约</a:t>
            </a:r>
            <a:endParaRPr sz="7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86550" y="3638550"/>
            <a:ext cx="1428750" cy="914400"/>
          </a:xfrm>
          <a:prstGeom prst="rect">
            <a:avLst/>
          </a:prstGeom>
          <a:solidFill>
            <a:srgbClr val="F0FDF4"/>
          </a:solidFill>
          <a:ln w="11430">
            <a:solidFill>
              <a:srgbClr val="16A34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686550" y="3638550"/>
            <a:ext cx="1428750" cy="5715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800850" y="37909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5</a:t>
            </a:r>
            <a:endParaRPr sz="112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构建部署</a:t>
            </a:r>
            <a:endParaRPr sz="112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19900" y="41148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Docker、Helm、CI/CD、安全扫描、冒烟验证</a:t>
            </a:r>
            <a:endParaRPr sz="7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762500" y="3638550"/>
            <a:ext cx="142875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C2626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762500" y="3638550"/>
            <a:ext cx="1428750" cy="5715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876800" y="37909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6</a:t>
            </a:r>
            <a:endParaRPr sz="112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白+黑验收</a:t>
            </a:r>
            <a:endParaRPr sz="112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895850" y="41148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白天记录 issue，夜间归因修复，次日验收</a:t>
            </a:r>
            <a:endParaRPr sz="7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153400" y="4095750"/>
            <a:ext cx="4572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229350" y="4095750"/>
            <a:ext cx="4572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686050" y="363855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914650" y="3829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上下文加载</a:t>
            </a:r>
            <a:endParaRPr sz="120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914650" y="417195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必须：项目约束</a:t>
            </a:r>
            <a:endParaRPr sz="8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按需：架构 / 测试 / 记忆 / 部署 / issue</a:t>
            </a:r>
            <a:endParaRPr sz="8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363200" y="2247900"/>
            <a:ext cx="1257300" cy="2171700"/>
          </a:xfrm>
          <a:prstGeom prst="rect">
            <a:avLst/>
          </a:prstGeom>
          <a:solidFill>
            <a:srgbClr val="101828"/>
          </a:solidFill>
          <a:ln w="9525">
            <a:solidFill>
              <a:srgbClr val="101828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0572750" y="2457450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闭环能力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534650" y="2857500"/>
            <a:ext cx="9144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长期记忆</a:t>
            </a:r>
            <a:endParaRPr sz="825" b="0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被否定方案</a:t>
            </a:r>
            <a:endParaRPr sz="825" b="0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调试陷阱</a:t>
            </a:r>
            <a:endParaRPr sz="825" b="0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/ Skills</a:t>
            </a:r>
            <a:endParaRPr sz="825" b="0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825"/>
          </a:p>
          <a:p>
            <a:pPr algn="ctr">
              <a:def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根因分析</a:t>
            </a:r>
            <a:endParaRPr sz="825" b="0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 -&gt; 调用链 -&gt; 数据 -&gt; 根因 -&gt; 影响范围</a:t>
            </a:r>
            <a:endParaRPr sz="825" b="0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543050" y="5448300"/>
            <a:ext cx="8953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809750" y="5562600"/>
            <a:ext cx="842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质量门禁：无验收标准不开发；无测试不实现；无证据不归因；超出边界不硬改；高风险动作交还人工审批。</a:t>
            </a:r>
            <a:endParaRPr sz="12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测试即规约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测试前置让 AI 先理解“什么行为必须成立”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AI-TDD 在权限类系统里尤其关键，因为负向路径比成功路径更容易漏。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095500"/>
            <a:ext cx="163830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095500"/>
            <a:ext cx="47625" cy="990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2098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81100" y="2495550"/>
            <a:ext cx="1371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自然语言目标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24150" y="2562225"/>
            <a:ext cx="3810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009900" y="2466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238500" y="2095500"/>
            <a:ext cx="163830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0891B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2095500"/>
            <a:ext cx="47625" cy="990600"/>
          </a:xfrm>
          <a:prstGeom prst="rect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390900" y="22098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Spec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90900" y="2495550"/>
            <a:ext cx="1371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接口与权限语义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33950" y="2562225"/>
            <a:ext cx="3810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19700" y="2466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448300" y="2095500"/>
            <a:ext cx="1638300" cy="990600"/>
          </a:xfrm>
          <a:prstGeom prst="rect">
            <a:avLst/>
          </a:prstGeom>
          <a:solidFill>
            <a:srgbClr val="FFF7ED"/>
          </a:solidFill>
          <a:ln w="11430">
            <a:solidFill>
              <a:srgbClr val="EA580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448300" y="2095500"/>
            <a:ext cx="47625" cy="990600"/>
          </a:xfrm>
          <a:prstGeom prst="rect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600700" y="22098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测试矩阵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00700" y="2495550"/>
            <a:ext cx="1371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正向 / 负向 / 故障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43750" y="2562225"/>
            <a:ext cx="3810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429500" y="2466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58100" y="2095500"/>
            <a:ext cx="163830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658100" y="2095500"/>
            <a:ext cx="47625" cy="990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810500" y="22098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实现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810500" y="2495550"/>
            <a:ext cx="1371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按用例收敛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353550" y="2562225"/>
            <a:ext cx="3810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639300" y="2466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867900" y="2095500"/>
            <a:ext cx="163830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867900" y="2095500"/>
            <a:ext cx="47625" cy="990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020300" y="22098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自动验证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020300" y="2495550"/>
            <a:ext cx="1371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回归通过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71550" y="3790950"/>
            <a:ext cx="100393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52500" y="35242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测试类型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2500" y="40386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正常流程</a:t>
            </a:r>
            <a:endParaRPr sz="10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143250" y="40386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登录、创建资源、查询资源、业务接入</a:t>
            </a:r>
            <a:endParaRPr sz="10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143750" y="40386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证明功能可用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52500" y="44196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安全负向</a:t>
            </a:r>
            <a:endParaRPr sz="105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143250" y="44196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跨租户、无 ACL、API Key 过期、allowed_paths 不匹配</a:t>
            </a:r>
            <a:endParaRPr sz="10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143750" y="44196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证明不能绕权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52500" y="48006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依赖故障</a:t>
            </a:r>
            <a:endParaRPr sz="10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143250" y="48006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Keycloak、OPA、DB、Gateway、resource-sync 异常</a:t>
            </a:r>
            <a:endParaRPr sz="10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143750" y="48006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 fail-close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866900" y="575310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 Bug 时先把问题变成失败测试，再要求 AI 让测试通过，防止只修表面现象。</a:t>
            </a:r>
            <a:endParaRPr sz="15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规约驱动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生成代码前，先锁定身份、路径、资源和异常行为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权限系统的核心不是 CRUD，而是统一语义和默认安全行为。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2152650"/>
            <a:ext cx="2381250" cy="2133600"/>
          </a:xfrm>
          <a:prstGeom prst="rect">
            <a:avLst/>
          </a:prstGeom>
          <a:solidFill>
            <a:srgbClr val="F2F4F7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152650"/>
            <a:ext cx="238125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4384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身份来源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2990850"/>
            <a:ext cx="19240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与 API Key 统一进入 pep-proxy；API Key 不做第二套旁路授权。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43300" y="2152650"/>
            <a:ext cx="23812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43300" y="2152650"/>
            <a:ext cx="2381250" cy="66675"/>
          </a:xfrm>
          <a:prstGeom prst="rect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752850" y="24384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路径级鉴权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771900" y="2990850"/>
            <a:ext cx="19240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OPA 判断某类路径和方法是否允许访问，避免把实例权限全量推入策略。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24600" y="2152650"/>
            <a:ext cx="2381250" cy="2133600"/>
          </a:xfrm>
          <a:prstGeom prst="rect">
            <a:avLst/>
          </a:prstGeom>
          <a:solidFill>
            <a:srgbClr val="F2F4F7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24600" y="2152650"/>
            <a:ext cx="2381250" cy="6667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34150" y="24384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资源级鉴权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53200" y="2990850"/>
            <a:ext cx="19240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resource_acl 判断具体资源实例，支持 Owner / Contributor / Viewer 角色矩阵。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5900" y="2152650"/>
            <a:ext cx="23812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05900" y="2152650"/>
            <a:ext cx="2381250" cy="66675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315450" y="24384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默认行为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334500" y="2990850"/>
            <a:ext cx="19240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鉴权失败默认拒绝；跨租户默认拒绝；依赖异常按 fail-close 处理。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66850" y="5010150"/>
            <a:ext cx="9220200" cy="590550"/>
          </a:xfrm>
          <a:prstGeom prst="rect">
            <a:avLst/>
          </a:prstGeom>
          <a:solidFill>
            <a:srgbClr val="101828"/>
          </a:solidFill>
          <a:ln w="9525">
            <a:solidFill>
              <a:srgbClr val="10182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771650" y="5181600"/>
            <a:ext cx="8610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这类规约先行后，AI 的实现空间被收敛到安全边界内，减少自行发明权限语义的风险。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长短期记忆解决 AI 理解不准确和跨会话遗忘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关键不是一次性塞满文档，而是按任务加载最小上下文闭包。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114550"/>
            <a:ext cx="3619500" cy="219075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23812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短期记忆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933700"/>
            <a:ext cx="266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当天 issue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测试失败输出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当前修改范围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本轮决策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临时环境状态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734300" y="2114550"/>
            <a:ext cx="3619500" cy="219075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001000" y="23812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长期记忆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01000" y="2933700"/>
            <a:ext cx="266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架构决策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被否定方案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调试陷阱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领域规则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/ Skills</a:t>
            </a:r>
            <a:endParaRPr sz="13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24400" y="3171825"/>
            <a:ext cx="25908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19950" y="30765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62600" y="2781300"/>
            <a:ext cx="102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1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复盘提炼</a:t>
            </a:r>
            <a:endParaRPr sz="11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90750" y="4857750"/>
            <a:ext cx="7810500" cy="838200"/>
          </a:xfrm>
          <a:prstGeom prst="rect">
            <a:avLst/>
          </a:prstGeom>
          <a:solidFill>
            <a:srgbClr val="FFFFFF"/>
          </a:solidFill>
          <a:ln w="11430">
            <a:solidFill>
              <a:srgbClr val="0891B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190750" y="4857750"/>
            <a:ext cx="47625" cy="838200"/>
          </a:xfrm>
          <a:prstGeom prst="rect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343150" y="4972050"/>
            <a:ext cx="7543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加载规则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43150" y="5257800"/>
            <a:ext cx="7543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新需求加载流程规则 + Story + 相关代码；Bug 修复加载 issue + 日志 + 调用链；夜间任务加载 Todo + 测试命令 + 修改边界。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白+黑模式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夜间能跑起来，靠的是结构化 Todo、自动验证和停止条件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这不是让 AI 无限制加班，而是给 AI 可独立执行的工作包。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171700"/>
            <a:ext cx="2476500" cy="169545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4193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白天输入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895600"/>
            <a:ext cx="171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真实操作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 / 环境 / 预期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复现率 / 优先级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不临时补丁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71850" y="2943225"/>
            <a:ext cx="74295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019550" y="2847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00550" y="2171700"/>
            <a:ext cx="2762250" cy="169545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24193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夜间循环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67250" y="2838450"/>
            <a:ext cx="2000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 issue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 -&gt; 归因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最小修复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运行测试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更新状态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353300" y="2943225"/>
            <a:ext cx="74295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01000" y="2847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2171700"/>
            <a:ext cx="2857500" cy="169545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24193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次日验收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67750" y="2895600"/>
            <a:ext cx="2095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修复摘要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待确认点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新增回归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设计问题交还人工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22985" y="4631055"/>
            <a:ext cx="9810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95400" y="47815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必要条件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438400" y="4762500"/>
            <a:ext cx="781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 足够结构化、验证命令明确、修改边界明确、工作区独立、自动化脚本可无人工交互执行。</a:t>
            </a:r>
            <a:endParaRPr sz="12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95400" y="51244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1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停止条件</a:t>
            </a:r>
            <a:endParaRPr sz="112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38400" y="5105400"/>
            <a:ext cx="781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复现缺失、需要架构决策、涉及生产权限、连续修复失败、影响范围超过 issue 边界。</a:t>
            </a:r>
            <a:endParaRPr sz="12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新增需求样例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Key 需求先被 AI 拆成规约和测试，再进入实现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防止机器访问绕过统一鉴权体系，也避免 AI 自行发明第二套权限语义。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165985"/>
            <a:ext cx="4476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3622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先追问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2800350"/>
            <a:ext cx="361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API Key 是否属于租户？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是否支持禁用、过期、轮换？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是否限制 allowed_paths？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是否继续走 OPA 和 resource_acl？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明文是否允许落库？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失败状态码如何区分？</a:t>
            </a:r>
            <a:endParaRPr sz="112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4440555"/>
            <a:ext cx="3657600" cy="40005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00150" y="4514850"/>
            <a:ext cx="333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05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结论：API Key 只做认证入口，不承载旁路授权。</a:t>
            </a:r>
            <a:endParaRPr sz="1050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0" y="2165985"/>
            <a:ext cx="5334000" cy="295275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23622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测试规约先行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0" y="27813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58100" y="27813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行为约束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829800" y="27813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0" y="3028950"/>
            <a:ext cx="4648200" cy="9525"/>
          </a:xfrm>
          <a:prstGeom prst="rect">
            <a:avLst/>
          </a:prstGeom>
          <a:solidFill>
            <a:srgbClr val="FDBA74"/>
          </a:solidFill>
          <a:ln w="0">
            <a:solidFill>
              <a:srgbClr val="FDBA7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8650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enabled key</a:t>
            </a:r>
            <a:endParaRPr sz="9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3181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 allowed path，继续进入 OPA 和 ACL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829800" y="31813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endParaRPr sz="9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0" y="3562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disabled key</a:t>
            </a:r>
            <a:endParaRPr sz="9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658100" y="3562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认证层拒绝，不能进入后续授权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829800" y="35623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401</a:t>
            </a:r>
            <a:endParaRPr sz="9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86500" y="3943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expired key</a:t>
            </a:r>
            <a:endParaRPr sz="9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58100" y="3943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认证层拒绝，状态可区分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829800" y="39433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401</a:t>
            </a:r>
            <a:endParaRPr sz="9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0" y="4324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path 不匹配</a:t>
            </a:r>
            <a:endParaRPr sz="9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58100" y="4324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路径约束拒绝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829800" y="43243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403</a:t>
            </a:r>
            <a:endParaRPr sz="9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4705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无资源 ACL</a:t>
            </a:r>
            <a:endParaRPr sz="9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58100" y="4705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实例级权限拒绝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829800" y="47053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403</a:t>
            </a:r>
            <a:endParaRPr sz="9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447800" y="5638800"/>
            <a:ext cx="914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5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TDD 顺序：问题澄清 -&gt; 失败用例 -&gt; 最小实现 -&gt; 回归通过 -&gt; 经验沉淀。</a:t>
            </a:r>
            <a:endParaRPr sz="15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Bug 修复样例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修 Bug 必须追根因，不停留在表面 200/403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普通用户访问他人详情异常放行，是调用链和存量数据共同导致。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2247900"/>
            <a:ext cx="1809750" cy="1295400"/>
          </a:xfrm>
          <a:prstGeom prst="rect">
            <a:avLst/>
          </a:prstGeom>
          <a:solidFill>
            <a:srgbClr val="FFF7ED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476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</a:t>
            </a:r>
            <a:endParaRPr sz="127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285750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A 访问用户 B 详情返回 200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14600" y="2847975"/>
            <a:ext cx="3048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724150" y="27527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914650" y="2247900"/>
            <a:ext cx="180975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86100" y="2476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OPA</a:t>
            </a:r>
            <a:endParaRPr sz="1275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86100" y="285750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path_rules 未按最新 self-only 规则拒绝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81550" y="2847975"/>
            <a:ext cx="3048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991100" y="27527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81600" y="2247900"/>
            <a:ext cx="180975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53050" y="2476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7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53050" y="285750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NOT EXISTS 未覆盖存量初始化数据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48500" y="2847975"/>
            <a:ext cx="3048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58050" y="27527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2247900"/>
            <a:ext cx="180975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20000" y="2476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pep-proxy</a:t>
            </a:r>
            <a:endParaRPr sz="12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20000" y="285750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self-only 检查位置靠后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15450" y="2847975"/>
            <a:ext cx="3048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25000" y="27527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0D5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D0D5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15500" y="2247900"/>
            <a:ext cx="180975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886950" y="2476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endParaRPr sz="12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886950" y="285750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更新存量规则 + 前移检查 + 回归测试</a:t>
            </a:r>
            <a:endParaRPr sz="9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447800" y="4495800"/>
            <a:ext cx="9144000" cy="8813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733550" y="47244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修复纪律</a:t>
            </a:r>
            <a:endParaRPr sz="12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990850" y="4705350"/>
            <a:ext cx="723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先补失败测试；不顺带重构；不改接口签名；只修复失败测试暴露的问题和同根因问题；修复后沉淀回归用例。</a:t>
            </a:r>
            <a:endParaRPr sz="12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自动运维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协作从开发延伸到部署、验证、日志归因和运行态反馈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自动运维不是直接操作生产，而是在受控环境里做重复诊断、报告生成和知识沉淀。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266950"/>
            <a:ext cx="1790700" cy="1200150"/>
          </a:xfrm>
          <a:prstGeom prst="rect">
            <a:avLst/>
          </a:prstGeom>
          <a:solidFill>
            <a:srgbClr val="F2F4F7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266950"/>
            <a:ext cx="47625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3812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部署/重建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26670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setup、cleanup、reinstall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14650" y="2266950"/>
            <a:ext cx="1790700" cy="1200150"/>
          </a:xfrm>
          <a:prstGeom prst="rect">
            <a:avLst/>
          </a:prstGeom>
          <a:solidFill>
            <a:srgbClr val="FFFFFF"/>
          </a:solidFill>
          <a:ln w="11430">
            <a:solidFill>
              <a:srgbClr val="0891B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14650" y="2266950"/>
            <a:ext cx="47625" cy="1200150"/>
          </a:xfrm>
          <a:prstGeom prst="rect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67050" y="23812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健康检查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67050" y="26670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Gateway、IAM、OPA、Keycloak、DB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24450" y="2266950"/>
            <a:ext cx="1790700" cy="1200150"/>
          </a:xfrm>
          <a:prstGeom prst="rect">
            <a:avLst/>
          </a:prstGeom>
          <a:solidFill>
            <a:srgbClr val="F2F4F7"/>
          </a:solidFill>
          <a:ln w="11430">
            <a:solidFill>
              <a:srgbClr val="EA580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124450" y="2266950"/>
            <a:ext cx="47625" cy="1200150"/>
          </a:xfrm>
          <a:prstGeom prst="rect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276850" y="23812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测试执行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76850" y="26670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鉴权、API Key、OPA、ACL、业务接入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334250" y="2266950"/>
            <a:ext cx="1790700" cy="12001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334250" y="2266950"/>
            <a:ext cx="47625" cy="12001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86650" y="23812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日志归因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86650" y="26670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/ 配置 / 数据 / 环境 / 设计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44050" y="2266950"/>
            <a:ext cx="1790700" cy="1200150"/>
          </a:xfrm>
          <a:prstGeom prst="rect">
            <a:avLst/>
          </a:prstGeom>
          <a:solidFill>
            <a:srgbClr val="F2F4F7"/>
          </a:solidFill>
          <a:ln w="11430">
            <a:solidFill>
              <a:srgbClr val="16A34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544050" y="2266950"/>
            <a:ext cx="47625" cy="120015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696450" y="23812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报告输出</a:t>
            </a:r>
            <a:endParaRPr sz="112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96450" y="26670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失败项、证据、风险、建议、人工确认点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04900" y="4305300"/>
            <a:ext cx="9906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390650" y="45529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7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</a:t>
            </a:r>
            <a:endParaRPr sz="127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724150" y="453390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不直接操作生产环境；不执行破坏性数据库变更；不绕过安全审批；高风险修复只生成建议，由人工确认。</a:t>
            </a:r>
            <a:endParaRPr sz="12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390650" y="5067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输出物</a:t>
            </a:r>
            <a:endParaRPr sz="12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724150" y="50482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自动运维报告、根因分析记录、修复建议、回归结果、可沉淀的运维知识规则。</a:t>
            </a:r>
            <a:endParaRPr sz="12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友好型软件工程实践 | AIDP IAM / Gateway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34700" y="64389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0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效率收益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85800"/>
            <a:ext cx="7239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819150"/>
            <a:ext cx="981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7.1 万行活跃工程资产上，AI 流程把投入压缩约 50%-60%</a:t>
            </a:r>
            <a:endParaRPr sz="2175" b="1">
              <a:solidFill>
                <a:srgbClr val="101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4287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口径保守：架构、安全和验收仍由人工把关，节省主要来自重复编码、测试生成、归因和文档同步。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1943100"/>
            <a:ext cx="2381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2066925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2.7万行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24384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核心应用代码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2724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IAM API、pep-proxy、bundle-server 等</a:t>
            </a:r>
            <a:endParaRPr sz="7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90900" y="1943100"/>
            <a:ext cx="2381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62350" y="2066925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7.1万行</a:t>
            </a:r>
            <a:endParaRPr sz="180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62350" y="24384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活跃工程资产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62350" y="2724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apps / build / deploy / tests / tools</a:t>
            </a:r>
            <a:endParaRPr sz="7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57900" y="1943100"/>
            <a:ext cx="2381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29350" y="2066925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60-95</a:t>
            </a:r>
            <a:endParaRPr sz="18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29350" y="24384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传统开发人日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724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需求、编码、部署、联调、测试、文档、修复</a:t>
            </a:r>
            <a:endParaRPr sz="7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24900" y="1943100"/>
            <a:ext cx="2381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896350" y="2066925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23-39</a:t>
            </a:r>
            <a:endParaRPr sz="18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96350" y="24384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辅助后人日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96350" y="2724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需求收敛、代码生成、测试生成、白+黑修复</a:t>
            </a:r>
            <a:endParaRPr sz="7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90600" y="3638550"/>
            <a:ext cx="990600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95400" y="38290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单项提效样例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314450" y="41719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 API 端点（含鉴权）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05200" y="4219575"/>
            <a:ext cx="4000500" cy="1619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505200" y="4219575"/>
            <a:ext cx="2800350" cy="1619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39050" y="41719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1-2天 → 2-4小时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14450" y="45339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新业务接入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05200" y="4581525"/>
            <a:ext cx="4000500" cy="1619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505200" y="4581525"/>
            <a:ext cx="3280410" cy="1619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639050" y="45339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3-5天 → 半天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14450" y="48958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依赖故障测试设计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505200" y="4943475"/>
            <a:ext cx="4000500" cy="1619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505200" y="4943475"/>
            <a:ext cx="2640330" cy="161925"/>
          </a:xfrm>
          <a:prstGeom prst="rect">
            <a:avLst/>
          </a:prstGeom>
          <a:solidFill>
            <a:srgbClr val="EA58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639050" y="48958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1-2天 → 30分钟</a:t>
            </a:r>
            <a:endParaRPr sz="975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314450" y="52578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分布式根因分析</a:t>
            </a:r>
            <a:endParaRPr sz="9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505200" y="5305425"/>
            <a:ext cx="4000500" cy="1619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3505200" y="5305425"/>
            <a:ext cx="3520440" cy="1619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639050" y="52578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2-8小时 → 15-30分钟</a:t>
            </a:r>
            <a:endParaRPr sz="9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600200" y="594360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ctr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不是把所有人工替换掉，而是把人工从重复查找、重复改写、重复整理中释放出来，集中做架构判断和验收决策。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8"/>
          </a:solidFill>
          <a:ln w="0">
            <a:solidFill>
              <a:srgbClr val="10182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5524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收束表达</a:t>
            </a:r>
            <a:endParaRPr sz="1125" b="1">
              <a:solidFill>
                <a:srgbClr val="7DD3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066800"/>
            <a:ext cx="9048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友好型软件工程，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AI 从“会写代码”走向“会参与工程闭环”。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2686050"/>
            <a:ext cx="10287000" cy="438150"/>
          </a:xfrm>
          <a:prstGeom prst="rect">
            <a:avLst/>
          </a:prstGeom>
          <a:solidFill>
            <a:srgbClr val="172554"/>
          </a:solidFill>
          <a:ln w="9525">
            <a:solidFill>
              <a:srgbClr val="31588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2790825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效率提升</a:t>
            </a:r>
            <a:endParaRPr sz="1200" b="1">
              <a:solidFill>
                <a:srgbClr val="7DD3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724150" y="2790825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TDD 前置、AI 实现、白+黑、自动运维、50%-60% 节省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276600"/>
            <a:ext cx="10287000" cy="438150"/>
          </a:xfrm>
          <a:prstGeom prst="rect">
            <a:avLst/>
          </a:prstGeom>
          <a:solidFill>
            <a:srgbClr val="111827"/>
          </a:solidFill>
          <a:ln w="9525">
            <a:solidFill>
              <a:srgbClr val="31588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3381375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1">
                <a:solidFill>
                  <a:srgbClr val="FDB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DB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关键方法</a:t>
            </a:r>
            <a:endParaRPr sz="1200" b="1">
              <a:solidFill>
                <a:srgbClr val="FDB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24150" y="3381375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上下文工程、测试即规约、长短期记忆、根因分析协议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3867150"/>
            <a:ext cx="10287000" cy="438150"/>
          </a:xfrm>
          <a:prstGeom prst="rect">
            <a:avLst/>
          </a:prstGeom>
          <a:solidFill>
            <a:srgbClr val="172554"/>
          </a:solidFill>
          <a:ln w="9525">
            <a:solidFill>
              <a:srgbClr val="3158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3971925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1">
                <a:solidFill>
                  <a:srgbClr val="86EF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86EF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业务价值</a:t>
            </a:r>
            <a:endParaRPr sz="1200" b="1">
              <a:solidFill>
                <a:srgbClr val="86EF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24150" y="3971925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统一鉴权、业务接入、ACL 自动同步、权限安全一致性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4457700"/>
            <a:ext cx="10287000" cy="438150"/>
          </a:xfrm>
          <a:prstGeom prst="rect">
            <a:avLst/>
          </a:prstGeom>
          <a:solidFill>
            <a:srgbClr val="111827"/>
          </a:solidFill>
          <a:ln w="9525">
            <a:solidFill>
              <a:srgbClr val="31588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00150" y="4562475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可推广性</a:t>
            </a:r>
            <a:endParaRPr sz="1200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24150" y="4562475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方法、Prompt、Skills、测试规约和 issue 模板可进入更多受控工程场景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00150" y="54673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125" b="1">
                <a:solidFill>
                  <a:srgbClr val="FDB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DB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最终主张</a:t>
            </a:r>
            <a:endParaRPr sz="1125" b="1">
              <a:solidFill>
                <a:srgbClr val="FDB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43150" y="5429250"/>
            <a:ext cx="8377555" cy="323850"/>
          </a:xfrm>
          <a:prstGeom prst="rect">
            <a:avLst/>
          </a:prstGeom>
          <a:solidFill>
            <a:srgbClr val="111827"/>
          </a:solidFill>
          <a:ln w="0">
            <a:solidFill>
              <a:srgbClr val="31588F"/>
            </a:solidFill>
            <a:prstDash val="solid"/>
          </a:ln>
        </p:spPr>
        <p:txBody>
          <a:bodyPr lIns="76200" tIns="47625" rIns="76200" bIns="47625" anchor="t"/>
          <a:lstStyle/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提交的不是一个孤立工具，而是一套可复制、可验证、可记忆、可迁移的 AI 软件工程实践。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5124</Words>
  <Application>WPS 演示</Application>
  <PresentationFormat>Converted Presentation</PresentationFormat>
  <Paragraphs>649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空白</cp:lastModifiedBy>
  <cp:revision>1</cp:revision>
  <dcterms:created xsi:type="dcterms:W3CDTF">2026-05-29T13:56:13Z</dcterms:created>
  <dcterms:modified xsi:type="dcterms:W3CDTF">2026-05-29T13:56:13Z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9F9E1235925F4E92A00FEB95563ACB9E_12</vt:lpwstr>
  </property>
  <property fmtid="{D5CDD505-2E9C-101B-9397-08002B2CF9AE}" pid="3" name="KSOProductBuildVer">
    <vt:lpwstr>2052-12.1.0.26375</vt:lpwstr>
  </property>
</Properties>
</file>